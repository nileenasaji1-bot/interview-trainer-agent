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6" r:id="rId11"/>
    <p:sldId id="268" r:id="rId12"/>
    <p:sldId id="269" r:id="rId13"/>
    <p:sldId id="270" r:id="rId14"/>
    <p:sldId id="271"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Agentic AI with IBM Granite and </a:t>
            </a:r>
            <a:r>
              <a:rPr lang="en-US" b="1" i="1" dirty="0" err="1"/>
              <a:t>watsonx</a:t>
            </a:r>
            <a:r>
              <a:rPr lang="en-US" b="1" i="1" dirty="0"/>
              <a:t> Orchestrate”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034797371"/>
              </p:ext>
            </p:extLst>
          </p:nvPr>
        </p:nvGraphicFramePr>
        <p:xfrm>
          <a:off x="1299257" y="2600315"/>
          <a:ext cx="9395000" cy="2636196"/>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1442296">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400"/>
                        <a:buFont typeface="Arial"/>
                        <a:buNone/>
                      </a:pPr>
                      <a:r>
                        <a:rPr lang="en-IN" sz="1400" u="none" strike="noStrike" cap="none" dirty="0"/>
                        <a:t>NILEENA SAJI</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400"/>
                        <a:buFont typeface="Arial"/>
                        <a:buNone/>
                      </a:pPr>
                      <a:r>
                        <a:rPr lang="en-IN" sz="1400" u="none" strike="noStrike" cap="none" dirty="0"/>
                        <a:t>nileenasaji1@gmail.com</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400"/>
                        <a:buFont typeface="Arial"/>
                        <a:buNone/>
                      </a:pPr>
                      <a:endParaRPr lang="en-IN" sz="1400" u="none" strike="noStrike" cap="none" dirty="0"/>
                    </a:p>
                    <a:p>
                      <a:pPr marL="0" marR="0" lvl="0" indent="0" algn="ctr" rtl="0">
                        <a:lnSpc>
                          <a:spcPct val="100000"/>
                        </a:lnSpc>
                        <a:spcBef>
                          <a:spcPts val="0"/>
                        </a:spcBef>
                        <a:spcAft>
                          <a:spcPts val="0"/>
                        </a:spcAft>
                        <a:buClr>
                          <a:srgbClr val="000000"/>
                        </a:buClr>
                        <a:buSzPts val="1400"/>
                        <a:buFont typeface="Arial"/>
                        <a:buNone/>
                      </a:pPr>
                      <a:r>
                        <a:rPr lang="en-IN" sz="1400" u="none" strike="noStrike" cap="none" dirty="0"/>
                        <a:t>9072237555</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US" sz="2400" b="1" dirty="0">
                <a:highlight>
                  <a:srgbClr val="FFFF00"/>
                </a:highlight>
              </a:rPr>
              <a:t>Education</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a:t>
            </a:r>
            <a:r>
              <a:rPr lang="en-US" sz="2400" b="1" dirty="0">
                <a:highlight>
                  <a:srgbClr val="FFFF00"/>
                </a:highlight>
              </a:rPr>
              <a:t>Interview Trainer Agent</a:t>
            </a:r>
            <a:endParaRPr sz="2400" b="1" i="0" u="none" strike="noStrike" cap="none" dirty="0">
              <a:solidFill>
                <a:srgbClr val="000000"/>
              </a:solidFill>
              <a:highlight>
                <a:srgbClr val="FFFF00"/>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43987" y="0"/>
            <a:ext cx="10607040" cy="6647933"/>
          </a:xfrm>
          <a:prstGeom prst="rect">
            <a:avLst/>
          </a:prstGeom>
          <a:noFill/>
          <a:ln>
            <a:noFill/>
          </a:ln>
        </p:spPr>
        <p:txBody>
          <a:bodyPr spcFirstLastPara="1" wrap="square" lIns="91425" tIns="45700" rIns="91425" bIns="45700" anchor="t" anchorCtr="0">
            <a:spAutoFit/>
          </a:bodyPr>
          <a:lstStyle/>
          <a:p>
            <a:pPr lvl="0"/>
            <a:r>
              <a:rPr lang="en-US" sz="2800" dirty="0"/>
              <a:t>Problem Statement: Interview Trainer Agent</a:t>
            </a:r>
          </a:p>
          <a:p>
            <a:pPr lvl="0"/>
            <a:endParaRPr lang="en-US" dirty="0"/>
          </a:p>
          <a:p>
            <a:pPr lvl="0"/>
            <a:r>
              <a:rPr lang="en-US" sz="1600" dirty="0"/>
              <a:t>The Challenge</a:t>
            </a:r>
          </a:p>
          <a:p>
            <a:pPr lvl="0"/>
            <a:r>
              <a:rPr lang="en-US" sz="1600" dirty="0"/>
              <a:t>Most people preparing for a job interview end up Googling the same generic question lists everyone else uses. There's no one checking their answers, no way to know what they're actually missing, and the useful stuff — real technical explanations, behavioral tips, what interviewers actually look for — is scattered across dozens of random blog posts and YouTube videos. So candidates either over-prepare on the wrong things or walk in not knowing where their weak spots are.</a:t>
            </a:r>
          </a:p>
          <a:p>
            <a:pPr lvl="0"/>
            <a:endParaRPr lang="en-US" sz="1600" dirty="0"/>
          </a:p>
          <a:p>
            <a:pPr lvl="0"/>
            <a:r>
              <a:rPr lang="en-US" sz="1600" dirty="0"/>
              <a:t>The Objective</a:t>
            </a:r>
          </a:p>
          <a:p>
            <a:pPr lvl="0"/>
            <a:r>
              <a:rPr lang="en-US" sz="1600" dirty="0"/>
              <a:t>Build an AI interview coach that actually acts like one — not just a list of questions, but something a candidate can practice with. It should:</a:t>
            </a:r>
          </a:p>
          <a:p>
            <a:pPr lvl="0"/>
            <a:r>
              <a:rPr lang="en-US" sz="1600" dirty="0"/>
              <a:t>- Generate Practice Questions – technical and behavioral questions matched to the role they're applying for, not a generic list.</a:t>
            </a:r>
          </a:p>
          <a:p>
            <a:pPr lvl="0"/>
            <a:r>
              <a:rPr lang="en-US" sz="1600" dirty="0"/>
              <a:t>- Ground Its Answers in Real Content – pull from curated, role-specific interview material instead of making things up.</a:t>
            </a:r>
          </a:p>
          <a:p>
            <a:pPr lvl="0"/>
            <a:r>
              <a:rPr lang="en-US" sz="1600" dirty="0"/>
              <a:t>- Give Feedback on Practice Answers – let candidates type out their own answer and get told honestly what's missing.</a:t>
            </a:r>
          </a:p>
          <a:p>
            <a:pPr lvl="0"/>
            <a:r>
              <a:rPr lang="en-US" sz="1600" dirty="0"/>
              <a:t>- Explain Concepts Clearly – break down technical topics the way an interviewer would expect someone to understand them.</a:t>
            </a:r>
          </a:p>
          <a:p>
            <a:pPr lvl="0"/>
            <a:r>
              <a:rPr lang="en-US" sz="1600" dirty="0"/>
              <a:t>- Work Across Multiple Capabilities –</a:t>
            </a:r>
          </a:p>
          <a:p>
            <a:pPr lvl="0"/>
            <a:r>
              <a:rPr lang="en-US" sz="1600" dirty="0"/>
              <a:t>   Generating questions</a:t>
            </a:r>
          </a:p>
          <a:p>
            <a:pPr lvl="0"/>
            <a:r>
              <a:rPr lang="en-US" sz="1600" dirty="0"/>
              <a:t>   Reviewing mock answers</a:t>
            </a:r>
          </a:p>
          <a:p>
            <a:pPr lvl="0"/>
            <a:r>
              <a:rPr lang="en-US" sz="1600" dirty="0"/>
              <a:t>   Explaining concepts</a:t>
            </a:r>
          </a:p>
          <a:p>
            <a:pPr lvl="0"/>
            <a:r>
              <a:rPr lang="en-US" sz="1600" dirty="0"/>
              <a:t>   Giving practical tips</a:t>
            </a:r>
          </a:p>
          <a:p>
            <a:pPr lvl="0"/>
            <a:r>
              <a:rPr lang="en-US" sz="1600" dirty="0"/>
              <a:t>- Be Easy to Extend – new roles and content can be added later without rebuilding the whole agent.</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582087"/>
            <a:ext cx="10607040" cy="56938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lvl="0"/>
            <a:endParaRPr lang="en-US" dirty="0"/>
          </a:p>
          <a:p>
            <a:pPr lvl="0"/>
            <a:endParaRPr lang="en-US" dirty="0"/>
          </a:p>
          <a:p>
            <a:pPr lvl="0"/>
            <a:r>
              <a:rPr lang="en-US" dirty="0"/>
              <a:t>We're building an AI interview coach using IBM </a:t>
            </a:r>
            <a:r>
              <a:rPr lang="en-US" dirty="0" err="1"/>
              <a:t>watsonx</a:t>
            </a:r>
            <a:r>
              <a:rPr lang="en-US" dirty="0"/>
              <a:t> Orchestrate, watsonx.ai, and Granite models — something candidates can actually practice with, not just a static FAQ page.</a:t>
            </a:r>
          </a:p>
          <a:p>
            <a:pPr lvl="0"/>
            <a:endParaRPr lang="en-US" dirty="0"/>
          </a:p>
          <a:p>
            <a:pPr lvl="0"/>
            <a:r>
              <a:rPr lang="en-US" dirty="0"/>
              <a:t>The core idea is Retrieval-Augmented Generation (RAG), which Orchestrate handles natively. Instead of the model guessing at answers, it first pulls relevant content from a curated knowledge base of interview material, then generates its response grounded in that — so the coaching is based on real, role-specific content rather than whatever the model happens to remember.</a:t>
            </a:r>
          </a:p>
          <a:p>
            <a:pPr lvl="0"/>
            <a:endParaRPr lang="en-US" dirty="0"/>
          </a:p>
          <a:p>
            <a:pPr lvl="0"/>
            <a:r>
              <a:rPr lang="en-US" dirty="0"/>
              <a:t>The agent handles four things:</a:t>
            </a:r>
          </a:p>
          <a:p>
            <a:pPr lvl="0"/>
            <a:r>
              <a:rPr lang="en-US" dirty="0"/>
              <a:t>Question Generation comes up with technical and behavioral questions matched to whatever role the candidate is preparing for.</a:t>
            </a:r>
          </a:p>
          <a:p>
            <a:pPr lvl="0"/>
            <a:r>
              <a:rPr lang="en-US" dirty="0"/>
              <a:t>Mock Answer Feedback takes a candidate's actual answer attempt and tells them honestly what worked and what didn't.</a:t>
            </a:r>
          </a:p>
          <a:p>
            <a:pPr lvl="0"/>
            <a:r>
              <a:rPr lang="en-US" dirty="0"/>
              <a:t>Concept Explanation walks through a tricky technical topic the way an interviewer would expect it to be understood, not just a textbook definition.</a:t>
            </a:r>
          </a:p>
          <a:p>
            <a:pPr lvl="0"/>
            <a:r>
              <a:rPr lang="en-US" dirty="0"/>
              <a:t>Practical Tips gives specific, useful advice instead of generic "just be confident" filler.</a:t>
            </a:r>
          </a:p>
          <a:p>
            <a:pPr lvl="0"/>
            <a:endParaRPr lang="en-US" dirty="0"/>
          </a:p>
          <a:p>
            <a:pPr lvl="0"/>
            <a:r>
              <a:rPr lang="en-US" dirty="0"/>
              <a:t>Everything runs inside </a:t>
            </a:r>
            <a:r>
              <a:rPr lang="en-US" dirty="0" err="1"/>
              <a:t>watsonx</a:t>
            </a:r>
            <a:r>
              <a:rPr lang="en-US" dirty="0"/>
              <a:t> </a:t>
            </a:r>
            <a:r>
              <a:rPr lang="en-US" dirty="0" err="1"/>
              <a:t>Orchestrate's</a:t>
            </a:r>
            <a:r>
              <a:rPr lang="en-US" dirty="0"/>
              <a:t> built-in chat — candidates can use it directly, or through Slack/Teams if that's easier, without us needing to build and maintain a separate app.</a:t>
            </a:r>
          </a:p>
          <a:p>
            <a:pPr lvl="0"/>
            <a:endParaRPr lang="en-US" dirty="0"/>
          </a:p>
          <a:p>
            <a:pPr lvl="0"/>
            <a:r>
              <a:rPr lang="en-US" dirty="0"/>
              <a:t>Orchestrate handles the agent itself (behavior, knowledge, skills), watsonx.ai takes care of model access and governance behind the scenes, and Granite is what's actually doing the reasoning, question generation, and feedback.</a:t>
            </a:r>
          </a:p>
          <a:p>
            <a:pPr lvl="0"/>
            <a:endParaRPr lang="en-US" dirty="0"/>
          </a:p>
          <a:p>
            <a:pPr lvl="0"/>
            <a:r>
              <a:rPr lang="en-US" dirty="0"/>
              <a:t>End result: a candidate gets something closer to a real mock interviewer than a static prep sheet — personalized, grounded in real content, and useful immediately.</a:t>
            </a:r>
            <a:endParaRPr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455468" y="214589"/>
            <a:ext cx="7214616" cy="954067"/>
          </a:xfrm>
          <a:prstGeom prst="rect">
            <a:avLst/>
          </a:prstGeom>
          <a:noFill/>
          <a:ln>
            <a:noFill/>
          </a:ln>
        </p:spPr>
        <p:txBody>
          <a:bodyPr spcFirstLastPara="1" wrap="square" lIns="91425" tIns="45700" rIns="91425" bIns="45700" anchor="t" anchorCtr="0">
            <a:spAutoFit/>
          </a:bodyPr>
          <a:lstStyle/>
          <a:p>
            <a:pPr lvl="0"/>
            <a:r>
              <a:rPr lang="en-US" sz="2800" b="1" i="0" u="none" strike="noStrike" cap="none" dirty="0">
                <a:solidFill>
                  <a:srgbClr val="000000"/>
                </a:solidFill>
                <a:latin typeface="Arial"/>
                <a:ea typeface="Arial"/>
                <a:cs typeface="Arial"/>
                <a:sym typeface="Arial"/>
              </a:rPr>
              <a:t>Proposed Solution</a:t>
            </a:r>
            <a:r>
              <a:rPr lang="en-IN" sz="2800" dirty="0"/>
              <a:t>: </a:t>
            </a:r>
            <a:r>
              <a:rPr lang="en-IN" sz="2800" b="1" dirty="0"/>
              <a:t>Agentic Interview Trainer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5786159"/>
          </a:xfrm>
          <a:prstGeom prst="rect">
            <a:avLst/>
          </a:prstGeom>
          <a:noFill/>
          <a:ln>
            <a:noFill/>
          </a:ln>
        </p:spPr>
        <p:txBody>
          <a:bodyPr spcFirstLastPara="1" wrap="square" lIns="91425" tIns="45700" rIns="91425" bIns="45700" anchor="t" anchorCtr="0">
            <a:spAutoFit/>
          </a:bodyPr>
          <a:lstStyle/>
          <a:p>
            <a:pPr marL="285750" lvl="0" indent="-171450">
              <a:buSzPts val="1800"/>
            </a:pPr>
            <a:r>
              <a:rPr lang="en-US" sz="1800" dirty="0"/>
              <a:t>- </a:t>
            </a:r>
            <a:r>
              <a:rPr lang="en-US" sz="1800" dirty="0" err="1"/>
              <a:t>watsonx</a:t>
            </a:r>
            <a:r>
              <a:rPr lang="en-US" sz="1800" dirty="0"/>
              <a:t> Orchestrate – This is where the actual agent lives. It's a no-code platform, so building the behavior, hooking up the knowledge base, and wiring up skills all happens without writing backend code.</a:t>
            </a:r>
          </a:p>
          <a:p>
            <a:pPr marL="285750" lvl="0" indent="-171450">
              <a:buSzPts val="1800"/>
            </a:pPr>
            <a:endParaRPr lang="en-US" sz="1800" dirty="0"/>
          </a:p>
          <a:p>
            <a:pPr marL="285750" lvl="0" indent="-171450">
              <a:buSzPts val="1800"/>
            </a:pPr>
            <a:r>
              <a:rPr lang="en-US" sz="1800" dirty="0"/>
              <a:t>- IBM Granite model – specifically granite-3-8b-instruct. This is what's doing the actual thinking: understanding what the candidate is asking, reasoning through it, and personalizing the response.</a:t>
            </a:r>
          </a:p>
          <a:p>
            <a:pPr marL="285750" lvl="0" indent="-171450">
              <a:buSzPts val="1800"/>
            </a:pPr>
            <a:endParaRPr lang="en-US" sz="1800" dirty="0"/>
          </a:p>
          <a:p>
            <a:pPr marL="285750" lvl="0" indent="-171450">
              <a:buSzPts val="1800"/>
            </a:pPr>
            <a:r>
              <a:rPr lang="en-US" sz="1800" dirty="0"/>
              <a:t>- IBM Cloud – the underlying infrastructure everything runs on. We're using the Lite (free) tier, so it's a reliable, secure environment without needing paid infrastructure.</a:t>
            </a:r>
          </a:p>
          <a:p>
            <a:pPr marL="285750" lvl="0" indent="-171450">
              <a:buSzPts val="1800"/>
            </a:pPr>
            <a:endParaRPr lang="en-US" sz="1800" dirty="0"/>
          </a:p>
          <a:p>
            <a:pPr marL="285750" lvl="0" indent="-171450">
              <a:buSzPts val="1800"/>
            </a:pPr>
            <a:r>
              <a:rPr lang="en-US" sz="1800" dirty="0"/>
              <a:t>- RAG – rather than letting the model just generate answers from memory, we fetch real interview content first, then generate a response grounded in that. Makes the coaching trustworthy instead of made-up.</a:t>
            </a:r>
          </a:p>
          <a:p>
            <a:pPr marL="285750" lvl="0" indent="-171450">
              <a:buSzPts val="1800"/>
            </a:pPr>
            <a:endParaRPr lang="en-US" sz="1800" dirty="0"/>
          </a:p>
          <a:p>
            <a:pPr marL="285750" lvl="0" indent="-171450">
              <a:buSzPts val="1800"/>
            </a:pPr>
            <a:r>
              <a:rPr lang="en-US" sz="1800" dirty="0"/>
              <a:t>- IBM watsonx.ai – handles model access and governance behind the scenes, so we're not managing that infrastructure ourselves.</a:t>
            </a:r>
          </a:p>
          <a:p>
            <a:pPr marL="285750" lvl="0" indent="-171450">
              <a:buSzPts val="1800"/>
            </a:pPr>
            <a:endParaRPr lang="en-US" sz="1800" dirty="0"/>
          </a:p>
          <a:p>
            <a:pPr marL="285750" lvl="0" indent="-171450">
              <a:buSzPts val="1800"/>
            </a:pPr>
            <a:r>
              <a:rPr lang="en-US" sz="1800" dirty="0"/>
              <a:t>- Knowledge Base – built into Orchestrate directly, so there's no separate vector database to set up and maintain. We just upload the interview content and it handles retrieval.</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68967"/>
            <a:ext cx="7467421" cy="402779"/>
          </a:xfrm>
          <a:prstGeom prst="rect">
            <a:avLst/>
          </a:prstGeom>
          <a:noFill/>
          <a:ln>
            <a:noFill/>
          </a:ln>
        </p:spPr>
        <p:txBody>
          <a:bodyPr spcFirstLastPara="1" wrap="square" lIns="0" tIns="0" rIns="0" bIns="0" anchor="t" anchorCtr="0">
            <a:noAutofit/>
          </a:bodyPr>
          <a:lstStyle/>
          <a:p>
            <a:pPr lvl="0">
              <a:buClr>
                <a:srgbClr val="051D3A"/>
              </a:buClr>
              <a:buSzPts val="3500"/>
            </a:pPr>
            <a:r>
              <a:rPr lang="en-IN" sz="2800" b="1" dirty="0" err="1"/>
              <a:t>watsonx</a:t>
            </a:r>
            <a:r>
              <a:rPr lang="en-IN" sz="2800" b="1" dirty="0"/>
              <a:t> Orchestrate components used - </a:t>
            </a:r>
            <a:endParaRPr sz="28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537590" y="771745"/>
            <a:ext cx="8823960" cy="6924932"/>
          </a:xfrm>
          <a:prstGeom prst="rect">
            <a:avLst/>
          </a:prstGeom>
          <a:noFill/>
          <a:ln>
            <a:noFill/>
          </a:ln>
        </p:spPr>
        <p:txBody>
          <a:bodyPr spcFirstLastPara="1" wrap="square" lIns="91425" tIns="45700" rIns="91425" bIns="45700" anchor="t" anchorCtr="0">
            <a:spAutoFit/>
          </a:bodyPr>
          <a:lstStyle/>
          <a:p>
            <a:pPr lvl="0"/>
            <a:endParaRPr lang="en-US" dirty="0"/>
          </a:p>
          <a:p>
            <a:pPr lvl="0"/>
            <a:endParaRPr lang="en-US" dirty="0"/>
          </a:p>
          <a:p>
            <a:pPr lvl="0"/>
            <a:r>
              <a:rPr lang="en-US" sz="1800" dirty="0"/>
              <a:t>1) Chat Interface – the built-in Orchestrate chat window where candidates type in their role, ask a question, or paste in a mock answer.</a:t>
            </a:r>
          </a:p>
          <a:p>
            <a:pPr lvl="0"/>
            <a:endParaRPr lang="en-US" sz="1800" dirty="0"/>
          </a:p>
          <a:p>
            <a:pPr lvl="0"/>
            <a:r>
              <a:rPr lang="en-US" sz="1800" dirty="0"/>
              <a:t>2) Agent Behavior/Instructions – this is basically the agent's personality and rulebook. It tells the model to act like an interview coach and defines how it should respond, and Granite is what actually processes it.</a:t>
            </a:r>
          </a:p>
          <a:p>
            <a:pPr lvl="0"/>
            <a:endParaRPr lang="en-US" sz="1800" dirty="0"/>
          </a:p>
          <a:p>
            <a:pPr lvl="0"/>
            <a:r>
              <a:rPr lang="en-US" sz="1800" dirty="0"/>
              <a:t>3) Granite model used – Granite-3-8B-Instruct. We picked this one because it's fast and efficient enough for real-time back-and-forth coaching.</a:t>
            </a:r>
          </a:p>
          <a:p>
            <a:pPr lvl="0"/>
            <a:endParaRPr lang="en-US" sz="1800" dirty="0"/>
          </a:p>
          <a:p>
            <a:pPr lvl="0"/>
            <a:r>
              <a:rPr lang="en-US" sz="1800" dirty="0"/>
              <a:t>4) Agent Response – whatever the agent generates gets displayed here: questions, feedback, explanations, tips, depending on what was asked.</a:t>
            </a:r>
          </a:p>
          <a:p>
            <a:pPr lvl="0"/>
            <a:endParaRPr lang="en-US" sz="1800" dirty="0"/>
          </a:p>
          <a:p>
            <a:pPr lvl="0"/>
            <a:r>
              <a:rPr lang="en-US" sz="1800" dirty="0"/>
              <a:t>5) Knowledge Base – this is where the curated interview content lives (one file per role — software engineer, data analyst, etc.), and it's what the agent pulls from to ground its answers instead of guessing.</a:t>
            </a:r>
          </a:p>
          <a:p>
            <a:pPr lvl="0"/>
            <a:endParaRPr lang="en-US" sz="1800" dirty="0"/>
          </a:p>
          <a:p>
            <a:pPr lvl="0"/>
            <a:r>
              <a:rPr lang="en-US" sz="1800" dirty="0"/>
              <a:t>6) Actions/Skills – left as an optional slot for later, in case we want to plug in something like resume parsing down the line.</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89" y="641683"/>
            <a:ext cx="10179571" cy="368970"/>
          </a:xfrm>
          <a:prstGeom prst="rect">
            <a:avLst/>
          </a:prstGeom>
          <a:noFill/>
          <a:ln>
            <a:noFill/>
          </a:ln>
        </p:spPr>
        <p:txBody>
          <a:bodyPr spcFirstLastPara="1" wrap="square" lIns="0" tIns="0" rIns="0" bIns="0" anchor="t" anchorCtr="0">
            <a:noAutofit/>
          </a:bodyPr>
          <a:lstStyle/>
          <a:p>
            <a:pPr lvl="0">
              <a:buClr>
                <a:srgbClr val="051D3A"/>
              </a:buClr>
              <a:buSzPts val="3500"/>
            </a:pPr>
            <a:r>
              <a:rPr lang="en-IN" sz="2800" b="1" dirty="0"/>
              <a:t>IBM </a:t>
            </a:r>
            <a:r>
              <a:rPr lang="en-IN" sz="2800" b="1" dirty="0" err="1"/>
              <a:t>watsonx</a:t>
            </a:r>
            <a:r>
              <a:rPr lang="en-IN" sz="2800" b="1" dirty="0"/>
              <a:t> Orchestrate – Interview Trainer Agent</a:t>
            </a:r>
            <a:endParaRPr sz="2800" b="1" i="0" u="none" strike="noStrike" cap="none" dirty="0">
              <a:solidFill>
                <a:srgbClr val="000000"/>
              </a:solidFill>
              <a:latin typeface="Arial"/>
              <a:ea typeface="Arial"/>
              <a:cs typeface="Arial"/>
              <a:sym typeface="Arial"/>
            </a:endParaRPr>
          </a:p>
        </p:txBody>
      </p:sp>
      <p:pic>
        <p:nvPicPr>
          <p:cNvPr id="7" name="Picture 6">
            <a:extLst>
              <a:ext uri="{FF2B5EF4-FFF2-40B4-BE49-F238E27FC236}">
                <a16:creationId xmlns:a16="http://schemas.microsoft.com/office/drawing/2014/main" id="{47460C2C-A579-BF4E-9CA1-5BDB6DDDA7FB}"/>
              </a:ext>
            </a:extLst>
          </p:cNvPr>
          <p:cNvPicPr>
            <a:picLocks noChangeAspect="1"/>
          </p:cNvPicPr>
          <p:nvPr/>
        </p:nvPicPr>
        <p:blipFill>
          <a:blip r:embed="rId3"/>
          <a:srcRect l="2354" t="12463"/>
          <a:stretch>
            <a:fillRect/>
          </a:stretch>
        </p:blipFill>
        <p:spPr>
          <a:xfrm>
            <a:off x="226142" y="1887276"/>
            <a:ext cx="6958274" cy="4329041"/>
          </a:xfrm>
          <a:prstGeom prst="rect">
            <a:avLst/>
          </a:prstGeom>
        </p:spPr>
      </p:pic>
      <p:sp>
        <p:nvSpPr>
          <p:cNvPr id="8" name="TextBox 7">
            <a:extLst>
              <a:ext uri="{FF2B5EF4-FFF2-40B4-BE49-F238E27FC236}">
                <a16:creationId xmlns:a16="http://schemas.microsoft.com/office/drawing/2014/main" id="{2E55DD7A-6128-1A74-CF96-85D12527533B}"/>
              </a:ext>
            </a:extLst>
          </p:cNvPr>
          <p:cNvSpPr txBox="1"/>
          <p:nvPr/>
        </p:nvSpPr>
        <p:spPr>
          <a:xfrm>
            <a:off x="7358152" y="1907199"/>
            <a:ext cx="4491789" cy="3847207"/>
          </a:xfrm>
          <a:prstGeom prst="rect">
            <a:avLst/>
          </a:prstGeom>
          <a:noFill/>
        </p:spPr>
        <p:txBody>
          <a:bodyPr wrap="square" rtlCol="0">
            <a:spAutoFit/>
          </a:bodyPr>
          <a:lstStyle/>
          <a:p>
            <a:pPr marL="342900" indent="-342900">
              <a:buFont typeface="Arial" panose="020B0604020202020204" pitchFamily="34" charset="0"/>
              <a:buChar char="•"/>
            </a:pPr>
            <a:r>
              <a:rPr lang="en-IN" sz="2000" dirty="0"/>
              <a:t>Developed an AI Interview Trainer Agent using IBM </a:t>
            </a:r>
            <a:r>
              <a:rPr lang="en-IN" sz="2000" dirty="0" err="1"/>
              <a:t>watsonx</a:t>
            </a:r>
            <a:r>
              <a:rPr lang="en-IN" sz="2000" dirty="0"/>
              <a:t> Orchestrate.</a:t>
            </a:r>
          </a:p>
          <a:p>
            <a:pPr marL="342900" indent="-342900">
              <a:buFont typeface="Arial" panose="020B0604020202020204" pitchFamily="34" charset="0"/>
              <a:buChar char="•"/>
            </a:pPr>
            <a:r>
              <a:rPr lang="en-IN" sz="2000" dirty="0"/>
              <a:t> Configured custom agent </a:t>
            </a:r>
            <a:r>
              <a:rPr lang="en-IN" sz="2000" dirty="0" err="1"/>
              <a:t>behavior</a:t>
            </a:r>
            <a:r>
              <a:rPr lang="en-IN" sz="2000" dirty="0"/>
              <a:t> for interview preparation and feedback.</a:t>
            </a:r>
          </a:p>
          <a:p>
            <a:pPr marL="342900" indent="-342900">
              <a:buFont typeface="Arial" panose="020B0604020202020204" pitchFamily="34" charset="0"/>
              <a:buChar char="•"/>
            </a:pPr>
            <a:r>
              <a:rPr lang="en-IN" sz="2000" dirty="0"/>
              <a:t> Integrated a knowledge base for Software Engineering and Data Analyst interview content.</a:t>
            </a:r>
          </a:p>
          <a:p>
            <a:pPr marL="342900" indent="-342900">
              <a:buFont typeface="Arial" panose="020B0604020202020204" pitchFamily="34" charset="0"/>
              <a:buChar char="•"/>
            </a:pPr>
            <a:r>
              <a:rPr lang="en-IN" sz="2000" dirty="0"/>
              <a:t> Successfully tested the agent in Preview mode by explaining ACID properties</a:t>
            </a:r>
            <a:r>
              <a:rPr lang="en-IN" sz="240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00" b="1" i="0" u="none" strike="noStrike" cap="none" dirty="0">
                <a:solidFill>
                  <a:schemeClr val="dk1"/>
                </a:solidFill>
                <a:latin typeface="Calibri"/>
                <a:ea typeface="Calibri"/>
                <a:cs typeface="Calibri"/>
                <a:sym typeface="Calibri"/>
              </a:rPr>
              <a:t>Architecture blueprint</a:t>
            </a:r>
            <a:endParaRPr lang="en-US" sz="2800" b="0" i="0" u="none" strike="noStrike" cap="none"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23B98C6D-DC67-A87A-0061-A906F24905CB}"/>
              </a:ext>
            </a:extLst>
          </p:cNvPr>
          <p:cNvPicPr>
            <a:picLocks noChangeAspect="1"/>
          </p:cNvPicPr>
          <p:nvPr/>
        </p:nvPicPr>
        <p:blipFill>
          <a:blip r:embed="rId3"/>
          <a:stretch>
            <a:fillRect/>
          </a:stretch>
        </p:blipFill>
        <p:spPr>
          <a:xfrm>
            <a:off x="268795" y="944111"/>
            <a:ext cx="11654410" cy="59138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11319" y="299506"/>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a:t>
            </a:r>
            <a:r>
              <a:rPr lang="en-US" sz="3200" b="1" dirty="0"/>
              <a:t>interview trainer agent </a:t>
            </a:r>
            <a:r>
              <a:rPr lang="en-US" sz="3200" b="1" i="0" u="none" strike="noStrike" cap="none" dirty="0">
                <a:solidFill>
                  <a:srgbClr val="000000"/>
                </a:solidFill>
                <a:latin typeface="Arial"/>
                <a:ea typeface="Arial"/>
                <a:cs typeface="Arial"/>
                <a:sym typeface="Arial"/>
              </a:rPr>
              <a:t> </a:t>
            </a:r>
            <a:endParaRPr sz="32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491530" y="588312"/>
            <a:ext cx="7406640" cy="6186269"/>
          </a:xfrm>
          <a:prstGeom prst="rect">
            <a:avLst/>
          </a:prstGeom>
          <a:noFill/>
          <a:ln>
            <a:noFill/>
          </a:ln>
        </p:spPr>
        <p:txBody>
          <a:bodyPr spcFirstLastPara="1" wrap="square" lIns="91425" tIns="45700" rIns="91425" bIns="45700" anchor="t" anchorCtr="0">
            <a:spAutoFit/>
          </a:bodyPr>
          <a:lstStyle/>
          <a:p>
            <a:pPr lvl="0"/>
            <a:endParaRPr lang="en-US" dirty="0"/>
          </a:p>
          <a:p>
            <a:pPr lvl="0"/>
            <a:endParaRPr lang="en-US" dirty="0"/>
          </a:p>
          <a:p>
            <a:pPr lvl="0"/>
            <a:r>
              <a:rPr lang="en-US" sz="1600" dirty="0"/>
              <a:t>What makes this different from a regular chatbot is that the agent isn't just responding to whatever you type — it's actually deciding what to do. Using </a:t>
            </a:r>
            <a:r>
              <a:rPr lang="en-US" sz="1600" dirty="0" err="1"/>
              <a:t>watsonx</a:t>
            </a:r>
            <a:r>
              <a:rPr lang="en-US" sz="1600" dirty="0"/>
              <a:t> Orchestrate and Granite, it figures out on its own whether you're asking for practice questions, submitting an answer for feedback, wanting a concept explained, or just looking for tips, and it handles each of those differently.</a:t>
            </a:r>
          </a:p>
          <a:p>
            <a:pPr lvl="0"/>
            <a:endParaRPr lang="en-US" sz="1600" dirty="0"/>
          </a:p>
          <a:p>
            <a:pPr lvl="0"/>
            <a:r>
              <a:rPr lang="en-US" sz="1600" dirty="0"/>
              <a:t>So depending on what you ask, it might generate a fresh set of questions, evaluate something you wrote, or explain a topic — but all of it comes from the same grounded knowledge base, so the quality doesn't drop depending on what you're asking for.</a:t>
            </a:r>
          </a:p>
          <a:p>
            <a:pPr lvl="0"/>
            <a:endParaRPr lang="en-US" sz="1600" dirty="0"/>
          </a:p>
          <a:p>
            <a:pPr lvl="0"/>
            <a:r>
              <a:rPr lang="en-US" sz="1600" dirty="0"/>
              <a:t>It also pays attention to context — what role you're targeting, roughly what level you're at — so the questions and feedback actually match your situation instead of being generic. And it adapts in real time based on what you type back, so a follow-up question gets a response that builds on what you already said.</a:t>
            </a:r>
          </a:p>
          <a:p>
            <a:pPr lvl="0"/>
            <a:endParaRPr lang="en-US" sz="1600" dirty="0"/>
          </a:p>
          <a:p>
            <a:pPr lvl="0"/>
            <a:r>
              <a:rPr lang="en-US" sz="1600" dirty="0"/>
              <a:t>On top of that, the knowledge base can grow over time — add a new role's content, and the agent can immediately coach for it, no rebuild needed.</a:t>
            </a:r>
          </a:p>
          <a:p>
            <a:pPr lvl="0"/>
            <a:endParaRPr lang="en-US" sz="1600" dirty="0"/>
          </a:p>
          <a:p>
            <a:pPr lvl="0"/>
            <a:r>
              <a:rPr lang="en-US" sz="1600" dirty="0"/>
              <a:t>Basically, the agentic part is what turns this from "a chatbot that knows about interviews" into something that behaves more like an actual coach — proactive, aware of who it's talking to, and working toward getting you ready for the interview.</a:t>
            </a:r>
            <a:endParaRPr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6124713"/>
          </a:xfrm>
          <a:prstGeom prst="rect">
            <a:avLst/>
          </a:prstGeom>
          <a:noFill/>
          <a:ln>
            <a:noFill/>
          </a:ln>
        </p:spPr>
        <p:txBody>
          <a:bodyPr spcFirstLastPara="1" wrap="square" lIns="91425" tIns="45700" rIns="91425" bIns="45700" anchor="t" anchorCtr="0">
            <a:spAutoFit/>
          </a:bodyPr>
          <a:lstStyle/>
          <a:p>
            <a:r>
              <a:rPr lang="en-IN" sz="1800" dirty="0"/>
              <a:t>What makes this different is that it's not just another chatbot with an interview theme — it's Agentic AI, RAG, and personalization actually working together.</a:t>
            </a:r>
          </a:p>
          <a:p>
            <a:endParaRPr lang="en-IN" sz="1800" dirty="0"/>
          </a:p>
          <a:p>
            <a:r>
              <a:rPr lang="en-IN" sz="1800" dirty="0"/>
              <a:t>Agentic Task Routing – The agent figures out on its own whether you want questions, feedback, an explanation, or tips, instead of you having to pick a mode.</a:t>
            </a:r>
          </a:p>
          <a:p>
            <a:r>
              <a:rPr lang="en-IN" sz="1800" dirty="0"/>
              <a:t>RAG-Based Accuracy – Every answer is grounded in real curated content, so you're not getting made-up or generic advice.</a:t>
            </a:r>
          </a:p>
          <a:p>
            <a:r>
              <a:rPr lang="en-IN" sz="1800" dirty="0"/>
              <a:t>Role-Level Personalization – Questions and feedback actually match the role and experience level you tell it, not a one-size-fits-all list.</a:t>
            </a:r>
          </a:p>
          <a:p>
            <a:r>
              <a:rPr lang="en-IN" sz="1800" dirty="0"/>
              <a:t>Honest, Constructive Feedback – It reacts to what you actually wrote, not just handing you a model answer to memorize.</a:t>
            </a:r>
          </a:p>
          <a:p>
            <a:r>
              <a:rPr lang="en-IN" sz="1800" dirty="0"/>
              <a:t>No-Code, Enterprise-Ready Build – The whole thing is built with </a:t>
            </a:r>
            <a:r>
              <a:rPr lang="en-IN" sz="1800" dirty="0" err="1"/>
              <a:t>watsonx</a:t>
            </a:r>
            <a:r>
              <a:rPr lang="en-IN" sz="1800" dirty="0"/>
              <a:t> </a:t>
            </a:r>
            <a:r>
              <a:rPr lang="en-IN" sz="1800" dirty="0" err="1"/>
              <a:t>Orchestrate's</a:t>
            </a:r>
            <a:r>
              <a:rPr lang="en-IN" sz="1800" dirty="0"/>
              <a:t> agent builder, so it's fast to build and easy to extend later.</a:t>
            </a:r>
          </a:p>
          <a:p>
            <a:r>
              <a:rPr lang="en-IN" sz="1800" dirty="0"/>
              <a:t>Extensible Knowledge Base – Adding a new role just means adding new content — the agent itself doesn't need to be rebuilt.</a:t>
            </a:r>
          </a:p>
          <a:p>
            <a:r>
              <a:rPr lang="en-IN" sz="1800" dirty="0"/>
              <a:t>Scalable &amp; Enterprise-Ready – Runs on IBM watsonx.ai with Granite models, so it's reliable and governed the way an enterprise tool should be.</a:t>
            </a:r>
          </a:p>
          <a:p>
            <a:endParaRPr lang="en-IN" sz="1800" dirty="0"/>
          </a:p>
          <a:p>
            <a:r>
              <a:rPr lang="en-IN" sz="1800" dirty="0"/>
              <a:t>Put together, this isn't just a static list of interview questions — it's something closer to an actual coach that adapts to you.</a:t>
            </a:r>
          </a:p>
          <a:p>
            <a:endParaRPr lang="en-IN" sz="18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lang="en-US" sz="1850" dirty="0">
              <a:latin typeface="Times New Roman"/>
              <a:ea typeface="Times New Roman"/>
              <a:cs typeface="Times New Roman"/>
              <a:sym typeface="Times New Roman"/>
            </a:endParaRPr>
          </a:p>
          <a:p>
            <a:pPr lvl="0">
              <a:lnSpc>
                <a:spcPct val="162162"/>
              </a:lnSpc>
              <a:buClr>
                <a:srgbClr val="2B3541"/>
              </a:buClr>
              <a:buSzPts val="1850"/>
            </a:pPr>
            <a:r>
              <a:rPr lang="en-US" sz="1800" dirty="0">
                <a:latin typeface="Arial" panose="020B0604020202020204" pitchFamily="34" charset="0"/>
                <a:ea typeface="Times New Roman"/>
                <a:cs typeface="Arial" panose="020B0604020202020204" pitchFamily="34" charset="0"/>
                <a:sym typeface="Times New Roman"/>
              </a:rPr>
              <a:t>1. Resume-Aware Question Generation –</a:t>
            </a:r>
          </a:p>
          <a:p>
            <a:pPr lvl="0">
              <a:lnSpc>
                <a:spcPct val="162162"/>
              </a:lnSpc>
              <a:buClr>
                <a:srgbClr val="2B3541"/>
              </a:buClr>
              <a:buSzPts val="1850"/>
            </a:pPr>
            <a:r>
              <a:rPr lang="en-US" sz="1800" dirty="0">
                <a:latin typeface="Arial" panose="020B0604020202020204" pitchFamily="34" charset="0"/>
                <a:ea typeface="Times New Roman"/>
                <a:cs typeface="Arial" panose="020B0604020202020204" pitchFamily="34" charset="0"/>
                <a:sym typeface="Times New Roman"/>
              </a:rPr>
              <a:t>Right now questions are matched to a role, but the next step would be hooking up resume parsing so the agent can ask about a candidate's actual projects and skills instead of generic role-based questions. That would make mock interviews feel a lot more like the real thing.</a:t>
            </a:r>
          </a:p>
          <a:p>
            <a:pPr lvl="0">
              <a:lnSpc>
                <a:spcPct val="162162"/>
              </a:lnSpc>
              <a:buClr>
                <a:srgbClr val="2B3541"/>
              </a:buClr>
              <a:buSzPts val="1850"/>
            </a:pPr>
            <a:endParaRPr lang="en-US" sz="1800" dirty="0">
              <a:latin typeface="Arial" panose="020B0604020202020204" pitchFamily="34" charset="0"/>
              <a:ea typeface="Times New Roman"/>
              <a:cs typeface="Arial" panose="020B0604020202020204" pitchFamily="34" charset="0"/>
              <a:sym typeface="Times New Roman"/>
            </a:endParaRPr>
          </a:p>
          <a:p>
            <a:pPr lvl="0">
              <a:lnSpc>
                <a:spcPct val="162162"/>
              </a:lnSpc>
              <a:buClr>
                <a:srgbClr val="2B3541"/>
              </a:buClr>
              <a:buSzPts val="1850"/>
            </a:pPr>
            <a:r>
              <a:rPr lang="en-US" sz="1800" dirty="0">
                <a:latin typeface="Arial" panose="020B0604020202020204" pitchFamily="34" charset="0"/>
                <a:ea typeface="Times New Roman"/>
                <a:cs typeface="Arial" panose="020B0604020202020204" pitchFamily="34" charset="0"/>
                <a:sym typeface="Times New Roman"/>
              </a:rPr>
              <a:t>2. Voice-Based Mock Interviews –</a:t>
            </a:r>
          </a:p>
          <a:p>
            <a:pPr lvl="0">
              <a:lnSpc>
                <a:spcPct val="162162"/>
              </a:lnSpc>
              <a:buClr>
                <a:srgbClr val="2B3541"/>
              </a:buClr>
              <a:buSzPts val="1850"/>
            </a:pPr>
            <a:r>
              <a:rPr lang="en-US" sz="1800" dirty="0">
                <a:latin typeface="Arial" panose="020B0604020202020204" pitchFamily="34" charset="0"/>
                <a:ea typeface="Times New Roman"/>
                <a:cs typeface="Arial" panose="020B0604020202020204" pitchFamily="34" charset="0"/>
                <a:sym typeface="Times New Roman"/>
              </a:rPr>
              <a:t>Typing out answers is useful, but real interviews are spoken. Adding voice input and output would let candidates actually practice saying their answers out loud and get feedback on how they're delivering it, not just what they're saying — a lot closer to walking into an actual interview.</a:t>
            </a:r>
            <a:endParaRPr sz="1800" b="0" i="0" u="none" strike="noStrike" cap="none" dirty="0">
              <a:solidFill>
                <a:srgbClr val="000000"/>
              </a:solidFill>
              <a:latin typeface="Arial" panose="020B0604020202020204" pitchFamily="34" charset="0"/>
              <a:ea typeface="Times New Roman"/>
              <a:cs typeface="Arial" panose="020B0604020202020204" pitchFamily="34" charset="0"/>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Certificates Earned:</a:t>
            </a:r>
            <a:endParaRPr lang="en-US" sz="2800"/>
          </a:p>
          <a:p>
            <a:pPr marL="0" marR="0" lvl="0" indent="0" algn="ctr" rtl="0">
              <a:lnSpc>
                <a:spcPct val="100000"/>
              </a:lnSpc>
              <a:spcBef>
                <a:spcPts val="0"/>
              </a:spcBef>
              <a:spcAft>
                <a:spcPts val="0"/>
              </a:spcAft>
              <a:buNone/>
            </a:pPr>
            <a:endParaRPr lang="en-US" sz="1400" b="0" i="0" u="none" strike="noStrike" cap="none" dirty="0">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 </a:t>
            </a:r>
            <a:endParaRPr lang="en-US" dirty="0"/>
          </a:p>
        </p:txBody>
      </p:sp>
      <p:pic>
        <p:nvPicPr>
          <p:cNvPr id="8" name="Picture 7">
            <a:extLst>
              <a:ext uri="{FF2B5EF4-FFF2-40B4-BE49-F238E27FC236}">
                <a16:creationId xmlns:a16="http://schemas.microsoft.com/office/drawing/2014/main" id="{72533AC5-6A23-FDC1-8099-34F88CE549D6}"/>
              </a:ext>
            </a:extLst>
          </p:cNvPr>
          <p:cNvPicPr>
            <a:picLocks noChangeAspect="1"/>
          </p:cNvPicPr>
          <p:nvPr/>
        </p:nvPicPr>
        <p:blipFill>
          <a:blip r:embed="rId3"/>
          <a:stretch>
            <a:fillRect/>
          </a:stretch>
        </p:blipFill>
        <p:spPr>
          <a:xfrm>
            <a:off x="6423949" y="2556387"/>
            <a:ext cx="5708706" cy="3500742"/>
          </a:xfrm>
          <a:prstGeom prst="rect">
            <a:avLst/>
          </a:prstGeom>
        </p:spPr>
      </p:pic>
      <p:pic>
        <p:nvPicPr>
          <p:cNvPr id="10" name="Picture 9">
            <a:extLst>
              <a:ext uri="{FF2B5EF4-FFF2-40B4-BE49-F238E27FC236}">
                <a16:creationId xmlns:a16="http://schemas.microsoft.com/office/drawing/2014/main" id="{F5B8CDE6-B3B1-40E5-BCFC-1B7D844F9A66}"/>
              </a:ext>
            </a:extLst>
          </p:cNvPr>
          <p:cNvPicPr>
            <a:picLocks noChangeAspect="1"/>
          </p:cNvPicPr>
          <p:nvPr/>
        </p:nvPicPr>
        <p:blipFill>
          <a:blip r:embed="rId4"/>
          <a:stretch>
            <a:fillRect/>
          </a:stretch>
        </p:blipFill>
        <p:spPr>
          <a:xfrm>
            <a:off x="0" y="1857396"/>
            <a:ext cx="6389964" cy="48243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a:t>
            </a:r>
            <a:r>
              <a:rPr lang="en-US" sz="2800" b="1" i="0" u="none" strike="noStrike" cap="none" dirty="0">
                <a:solidFill>
                  <a:srgbClr val="000000"/>
                </a:solidFill>
                <a:latin typeface="Arial"/>
                <a:ea typeface="Arial"/>
                <a:cs typeface="Arial"/>
                <a:sym typeface="Arial"/>
              </a:rPr>
              <a:t>Earned</a:t>
            </a:r>
            <a:r>
              <a:rPr lang="en-US" sz="2400" b="1" i="0" u="none" strike="noStrike" cap="none" dirty="0">
                <a:solidFill>
                  <a:srgbClr val="000000"/>
                </a:solidFill>
                <a:latin typeface="Arial"/>
                <a:ea typeface="Arial"/>
                <a:cs typeface="Arial"/>
                <a:sym typeface="Arial"/>
              </a:rPr>
              <a:t>:</a:t>
            </a:r>
            <a:r>
              <a:rPr lang="en-US" sz="2400" b="0" i="0" u="none" strike="noStrike" cap="none" dirty="0">
                <a:solidFill>
                  <a:srgbClr val="000000"/>
                </a:solidFill>
                <a:latin typeface="Arial"/>
                <a:ea typeface="Arial"/>
                <a:cs typeface="Arial"/>
                <a:sym typeface="Arial"/>
              </a:rPr>
              <a:t>​</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DE9A97C5-E9C1-FED5-EABC-A2E218B4DA55}"/>
              </a:ext>
            </a:extLst>
          </p:cNvPr>
          <p:cNvPicPr>
            <a:picLocks noChangeAspect="1"/>
          </p:cNvPicPr>
          <p:nvPr/>
        </p:nvPicPr>
        <p:blipFill>
          <a:blip r:embed="rId3"/>
          <a:stretch>
            <a:fillRect/>
          </a:stretch>
        </p:blipFill>
        <p:spPr>
          <a:xfrm>
            <a:off x="2754340" y="1363801"/>
            <a:ext cx="6683319" cy="413039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1671</Words>
  <Application>Microsoft Office PowerPoint</Application>
  <PresentationFormat>Widescreen</PresentationFormat>
  <Paragraphs>128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Nileena Saji</cp:lastModifiedBy>
  <cp:revision>1</cp:revision>
  <dcterms:created xsi:type="dcterms:W3CDTF">2025-07-08T05:06:56Z</dcterms:created>
  <dcterms:modified xsi:type="dcterms:W3CDTF">2026-07-15T09:50:59Z</dcterms:modified>
</cp:coreProperties>
</file>